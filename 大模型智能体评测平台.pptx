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78648"/>
            <a:ext cx="11277295" cy="7786703"/>
          </a:xfrm>
          <a:prstGeom prst="rect">
            <a:avLst/>
          </a:prstGeom>
          <a:solidFill>
            <a:srgbClr val="F0F8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1453" y="812901"/>
            <a:ext cx="11008788" cy="1879549"/>
          </a:xfrm>
          <a:prstGeom prst="rect">
            <a:avLst/>
          </a:prstGeom>
          <a:solidFill>
            <a:srgbClr val="E6F2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960" y="1014281"/>
            <a:ext cx="236286" cy="1611042"/>
          </a:xfrm>
          <a:prstGeom prst="rect">
            <a:avLst/>
          </a:prstGeom>
          <a:noFill/>
        </p:spPr>
        <p:txBody>
          <a:bodyPr wrap="none" vert="eaVert">
            <a:spAutoFit/>
          </a:bodyPr>
          <a:lstStyle/>
          <a:p>
            <a:pPr algn="l">
              <a:defRPr sz="1691" b="1">
                <a:solidFill>
                  <a:srgbClr val="1A5FB4"/>
                </a:solidFill>
                <a:latin typeface="Microsoft YaHei, SimHei"/>
              </a:defRPr>
            </a:pPr>
            <a:r>
              <a:t>WEB门户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31228" y="947155"/>
            <a:ext cx="1342535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25281" y="1105574"/>
            <a:ext cx="354429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首页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8016" y="947155"/>
            <a:ext cx="1611042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93286" y="1105574"/>
            <a:ext cx="1240502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大模型能力评测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3312" y="947155"/>
            <a:ext cx="1611042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8582" y="1105574"/>
            <a:ext cx="1240502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智能体能力评测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8608" y="947155"/>
            <a:ext cx="1342535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6839" y="1105574"/>
            <a:ext cx="886073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大模型管理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5396" y="947155"/>
            <a:ext cx="1342535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2234" y="1105574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榜单管理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31228" y="1551295"/>
            <a:ext cx="1342535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36673" y="1709715"/>
            <a:ext cx="531643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排行榜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08016" y="1551295"/>
            <a:ext cx="1611042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3286" y="1709715"/>
            <a:ext cx="1240502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大模型安全评测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3312" y="1551295"/>
            <a:ext cx="1611042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8582" y="1709715"/>
            <a:ext cx="1240502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智能体安全评测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8608" y="1551295"/>
            <a:ext cx="1342535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6839" y="1709715"/>
            <a:ext cx="886073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智能体管理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5396" y="1551295"/>
            <a:ext cx="1342535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2234" y="1709715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任务管理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31228" y="2155436"/>
            <a:ext cx="1342535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70851" y="2313855"/>
            <a:ext cx="1063287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评测维度管理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08016" y="2155436"/>
            <a:ext cx="1611042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81893" y="2313855"/>
            <a:ext cx="1063287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大模型角斗场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3312" y="2155436"/>
            <a:ext cx="1611042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7189" y="2313855"/>
            <a:ext cx="1063287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智能体角斗场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8608" y="2155436"/>
            <a:ext cx="1342535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6839" y="2313855"/>
            <a:ext cx="886073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评测集管理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5396" y="2155436"/>
            <a:ext cx="1342535" cy="46988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2234" y="2313855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权限管理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142270" y="2759577"/>
            <a:ext cx="236286" cy="15466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378556" y="2775043"/>
            <a:ext cx="236286" cy="14177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4842" y="2789220"/>
            <a:ext cx="236286" cy="12889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51128" y="2802109"/>
            <a:ext cx="236287" cy="11599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087415" y="2813708"/>
            <a:ext cx="236286" cy="10311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323701" y="2824019"/>
            <a:ext cx="236286" cy="9022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59987" y="2833041"/>
            <a:ext cx="236286" cy="7733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796273" y="2840774"/>
            <a:ext cx="236286" cy="6444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032559" y="2847218"/>
            <a:ext cx="236286" cy="5155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268845" y="2852373"/>
            <a:ext cx="236287" cy="3867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505132" y="2856240"/>
            <a:ext cx="236286" cy="2577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741418" y="2858817"/>
            <a:ext cx="236286" cy="1289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77704" y="2860106"/>
            <a:ext cx="236286" cy="0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213990" y="2858817"/>
            <a:ext cx="236286" cy="1289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450276" y="2856240"/>
            <a:ext cx="236287" cy="2577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86563" y="2852373"/>
            <a:ext cx="236286" cy="3867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922849" y="2847218"/>
            <a:ext cx="236286" cy="5155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159135" y="2840774"/>
            <a:ext cx="236286" cy="6444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395421" y="2833041"/>
            <a:ext cx="236286" cy="7733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631707" y="2824019"/>
            <a:ext cx="236286" cy="9022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67993" y="2813708"/>
            <a:ext cx="236287" cy="10311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104280" y="2802109"/>
            <a:ext cx="236286" cy="11599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340566" y="2789220"/>
            <a:ext cx="236286" cy="12889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576852" y="2775043"/>
            <a:ext cx="236286" cy="14177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813138" y="2759577"/>
            <a:ext cx="236286" cy="15466"/>
          </a:xfrm>
          <a:prstGeom prst="line">
            <a:avLst/>
          </a:prstGeom>
          <a:ln w="25400">
            <a:solidFill>
              <a:srgbClr val="B8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855345" y="2891146"/>
            <a:ext cx="2481004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666666"/>
                </a:solidFill>
                <a:latin typeface="Microsoft YaHei, SimHei"/>
              </a:defRPr>
            </a:pPr>
            <a:r>
              <a:t>API、SDK、web、H5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1453" y="3229464"/>
            <a:ext cx="11008788" cy="5101633"/>
          </a:xfrm>
          <a:prstGeom prst="rect">
            <a:avLst/>
          </a:prstGeom>
          <a:solidFill>
            <a:srgbClr val="E6F2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960" y="5135864"/>
            <a:ext cx="236286" cy="1288833"/>
          </a:xfrm>
          <a:prstGeom prst="rect">
            <a:avLst/>
          </a:prstGeom>
          <a:noFill/>
        </p:spPr>
        <p:txBody>
          <a:bodyPr wrap="none" vert="eaVert">
            <a:spAutoFit/>
          </a:bodyPr>
          <a:lstStyle/>
          <a:p>
            <a:pPr algn="l">
              <a:defRPr sz="1691" b="1">
                <a:solidFill>
                  <a:srgbClr val="1A5FB4"/>
                </a:solidFill>
                <a:latin typeface="Microsoft YaHei, SimHei"/>
              </a:defRPr>
            </a:pPr>
            <a:r>
              <a:t>核心能力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62721" y="3497971"/>
            <a:ext cx="2148056" cy="2685070"/>
          </a:xfrm>
          <a:prstGeom prst="roundRect">
            <a:avLst/>
          </a:prstGeom>
          <a:solidFill>
            <a:srgbClr val="D6E8F5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19873" y="3606717"/>
            <a:ext cx="1033752" cy="2819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79" b="1">
                <a:solidFill>
                  <a:srgbClr val="1A5FB4"/>
                </a:solidFill>
                <a:latin typeface="Microsoft YaHei, SimHei"/>
              </a:defRPr>
            </a:pPr>
            <a:r>
              <a:t>评测数据集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678648"/>
            <a:ext cx="335633" cy="335633"/>
          </a:xfrm>
          <a:prstGeom prst="roundRect">
            <a:avLst/>
          </a:prstGeom>
          <a:solidFill>
            <a:srgbClr val="B8D4F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524326" y="786050"/>
            <a:ext cx="201381" cy="0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24326" y="853177"/>
            <a:ext cx="134254" cy="0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24326" y="920304"/>
            <a:ext cx="174530" cy="0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457200" y="678648"/>
            <a:ext cx="335633" cy="335633"/>
          </a:xfrm>
          <a:prstGeom prst="roundRect">
            <a:avLst/>
          </a:prstGeom>
          <a:solidFill>
            <a:srgbClr val="B8D4F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640" y="747117"/>
            <a:ext cx="206750" cy="2819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79">
                <a:solidFill>
                  <a:srgbClr val="4A90D9"/>
                </a:solidFill>
                <a:latin typeface="SimSun"/>
              </a:defRPr>
            </a:pPr>
            <a:r>
              <a:t>文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678648"/>
            <a:ext cx="335633" cy="335633"/>
          </a:xfrm>
          <a:prstGeom prst="roundRect">
            <a:avLst/>
          </a:prstGeom>
          <a:solidFill>
            <a:srgbClr val="B8D4F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Isosceles Triangle 71"/>
          <p:cNvSpPr/>
          <p:nvPr/>
        </p:nvSpPr>
        <p:spPr>
          <a:xfrm>
            <a:off x="524326" y="745774"/>
            <a:ext cx="201380" cy="201380"/>
          </a:xfrm>
          <a:prstGeom prst="triangle">
            <a:avLst/>
          </a:prstGeom>
          <a:noFill/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84740" y="799476"/>
            <a:ext cx="80552" cy="80552"/>
          </a:xfrm>
          <a:prstGeom prst="ellipse">
            <a:avLst/>
          </a:prstGeom>
          <a:noFill/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57200" y="678648"/>
            <a:ext cx="335633" cy="335633"/>
          </a:xfrm>
          <a:prstGeom prst="roundRect">
            <a:avLst/>
          </a:prstGeom>
          <a:solidFill>
            <a:srgbClr val="B8D4F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524326" y="846464"/>
            <a:ext cx="201381" cy="0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524326" y="786050"/>
            <a:ext cx="40276" cy="60414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524326" y="846464"/>
            <a:ext cx="40276" cy="60415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457200" y="678648"/>
            <a:ext cx="335633" cy="335633"/>
          </a:xfrm>
          <a:prstGeom prst="roundRect">
            <a:avLst/>
          </a:prstGeom>
          <a:solidFill>
            <a:srgbClr val="B8D4F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71315" y="759200"/>
            <a:ext cx="107402" cy="107402"/>
          </a:xfrm>
          <a:prstGeom prst="ellipse">
            <a:avLst/>
          </a:prstGeom>
          <a:noFill/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 flipV="1">
            <a:off x="524326" y="938906"/>
            <a:ext cx="8055" cy="8249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532381" y="931345"/>
            <a:ext cx="8056" cy="7561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540437" y="924471"/>
            <a:ext cx="8055" cy="6874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48492" y="918285"/>
            <a:ext cx="8055" cy="6186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556547" y="912786"/>
            <a:ext cx="8055" cy="5499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564602" y="907974"/>
            <a:ext cx="8056" cy="4812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72658" y="903850"/>
            <a:ext cx="8055" cy="4124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80713" y="900413"/>
            <a:ext cx="8055" cy="3437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88768" y="897663"/>
            <a:ext cx="8055" cy="2750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96823" y="895601"/>
            <a:ext cx="8055" cy="2062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04878" y="894227"/>
            <a:ext cx="8056" cy="1374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12934" y="893539"/>
            <a:ext cx="8055" cy="688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20989" y="893539"/>
            <a:ext cx="8055" cy="0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29044" y="893539"/>
            <a:ext cx="8055" cy="688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37099" y="894227"/>
            <a:ext cx="8055" cy="1374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45154" y="895601"/>
            <a:ext cx="8056" cy="2062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53210" y="897663"/>
            <a:ext cx="8055" cy="2750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61265" y="900413"/>
            <a:ext cx="8055" cy="3437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69320" y="903850"/>
            <a:ext cx="8055" cy="4124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77375" y="907974"/>
            <a:ext cx="8055" cy="4812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85430" y="912786"/>
            <a:ext cx="8056" cy="5499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93486" y="918285"/>
            <a:ext cx="8055" cy="6186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01541" y="924471"/>
            <a:ext cx="8055" cy="6874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09596" y="931345"/>
            <a:ext cx="8055" cy="7561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17651" y="938906"/>
            <a:ext cx="8056" cy="8249"/>
          </a:xfrm>
          <a:prstGeom prst="line">
            <a:avLst/>
          </a:prstGeom>
          <a:ln w="127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457200" y="678648"/>
            <a:ext cx="335633" cy="335633"/>
          </a:xfrm>
          <a:prstGeom prst="roundRect">
            <a:avLst/>
          </a:prstGeom>
          <a:solidFill>
            <a:srgbClr val="B8D4F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03498" y="792763"/>
            <a:ext cx="443036" cy="201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7">
                <a:solidFill>
                  <a:srgbClr val="4A90D9"/>
                </a:solidFill>
                <a:latin typeface="Microsoft YaHei"/>
              </a:defRPr>
            </a:pPr>
            <a:r>
              <a:t>...</a:t>
            </a:r>
          </a:p>
        </p:txBody>
      </p:sp>
      <p:sp>
        <p:nvSpPr>
          <p:cNvPr id="107" name="Oval 106"/>
          <p:cNvSpPr/>
          <p:nvPr/>
        </p:nvSpPr>
        <p:spPr>
          <a:xfrm>
            <a:off x="1558078" y="5001611"/>
            <a:ext cx="80552" cy="80552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732608" y="4972075"/>
            <a:ext cx="886073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68">
                <a:solidFill>
                  <a:srgbClr val="333333"/>
                </a:solidFill>
                <a:latin typeface="Microsoft YaHei, SimHei"/>
              </a:defRPr>
            </a:pPr>
            <a:r>
              <a:t>开源评测集</a:t>
            </a:r>
          </a:p>
        </p:txBody>
      </p:sp>
      <p:sp>
        <p:nvSpPr>
          <p:cNvPr id="109" name="Oval 108"/>
          <p:cNvSpPr/>
          <p:nvPr/>
        </p:nvSpPr>
        <p:spPr>
          <a:xfrm>
            <a:off x="1558078" y="5270118"/>
            <a:ext cx="80552" cy="80552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732608" y="5240582"/>
            <a:ext cx="886073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68">
                <a:solidFill>
                  <a:srgbClr val="333333"/>
                </a:solidFill>
                <a:latin typeface="Microsoft YaHei, SimHei"/>
              </a:defRPr>
            </a:pPr>
            <a:r>
              <a:t>行业评测集</a:t>
            </a:r>
          </a:p>
        </p:txBody>
      </p:sp>
      <p:sp>
        <p:nvSpPr>
          <p:cNvPr id="111" name="Oval 110"/>
          <p:cNvSpPr/>
          <p:nvPr/>
        </p:nvSpPr>
        <p:spPr>
          <a:xfrm>
            <a:off x="1558078" y="5538625"/>
            <a:ext cx="80552" cy="80552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732608" y="5509089"/>
            <a:ext cx="1063287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68">
                <a:solidFill>
                  <a:srgbClr val="333333"/>
                </a:solidFill>
                <a:latin typeface="Microsoft YaHei, SimHei"/>
              </a:defRPr>
            </a:pPr>
            <a:r>
              <a:t>自定义评测集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813537" y="3497971"/>
            <a:ext cx="4564619" cy="2685070"/>
          </a:xfrm>
          <a:prstGeom prst="roundRect">
            <a:avLst/>
          </a:prstGeom>
          <a:solidFill>
            <a:srgbClr val="D6E8F5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682346" y="3606717"/>
            <a:ext cx="827001" cy="2819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79" b="1">
                <a:solidFill>
                  <a:srgbClr val="1A5FB4"/>
                </a:solidFill>
                <a:latin typeface="Microsoft YaHei, SimHei"/>
              </a:defRPr>
            </a:pPr>
            <a:r>
              <a:t>评测引擎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082044" y="4034985"/>
            <a:ext cx="1208281" cy="1879549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331756" y="4139703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333333"/>
                </a:solidFill>
                <a:latin typeface="Microsoft YaHei, SimHei"/>
              </a:defRPr>
            </a:pPr>
            <a:r>
              <a:t>数据解析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216298" y="4437746"/>
            <a:ext cx="939774" cy="335633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198845" y="4540450"/>
            <a:ext cx="974680" cy="22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62">
                <a:solidFill>
                  <a:srgbClr val="FFFFFF"/>
                </a:solidFill>
                <a:latin typeface="Microsoft YaHei, SimHei"/>
              </a:defRPr>
            </a:pPr>
            <a:r>
              <a:t>JSON解析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216298" y="4840507"/>
            <a:ext cx="939774" cy="335633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98845" y="4943210"/>
            <a:ext cx="974680" cy="22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62">
                <a:solidFill>
                  <a:srgbClr val="FFFFFF"/>
                </a:solidFill>
                <a:latin typeface="Microsoft YaHei, SimHei"/>
              </a:defRPr>
            </a:pPr>
            <a:r>
              <a:t>CSV解析器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216298" y="5243267"/>
            <a:ext cx="939774" cy="26850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198845" y="5305695"/>
            <a:ext cx="974680" cy="22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62">
                <a:solidFill>
                  <a:srgbClr val="FFFFFF"/>
                </a:solidFill>
                <a:latin typeface="Microsoft YaHei, SimHei"/>
              </a:defRPr>
            </a:pPr>
            <a:r>
              <a:t>......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216298" y="5578901"/>
            <a:ext cx="939774" cy="335633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80068" y="5681605"/>
            <a:ext cx="812233" cy="22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62">
                <a:solidFill>
                  <a:srgbClr val="FFFFFF"/>
                </a:solidFill>
                <a:latin typeface="Microsoft YaHei, SimHei"/>
              </a:defRPr>
            </a:pPr>
            <a:r>
              <a:t>自定义解析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491706" y="4034985"/>
            <a:ext cx="1208281" cy="1879549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41418" y="4139703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333333"/>
                </a:solidFill>
                <a:latin typeface="Microsoft YaHei, SimHei"/>
              </a:defRPr>
            </a:pPr>
            <a:r>
              <a:t>任务切分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625960" y="4437746"/>
            <a:ext cx="939774" cy="335633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852177" y="4540450"/>
            <a:ext cx="487340" cy="22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62">
                <a:solidFill>
                  <a:srgbClr val="FFFFFF"/>
                </a:solidFill>
                <a:latin typeface="Microsoft YaHei, SimHei"/>
              </a:defRPr>
            </a:pPr>
            <a:r>
              <a:t>任务1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625960" y="4840507"/>
            <a:ext cx="939774" cy="335633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852177" y="4943210"/>
            <a:ext cx="487340" cy="22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62">
                <a:solidFill>
                  <a:srgbClr val="FFFFFF"/>
                </a:solidFill>
                <a:latin typeface="Microsoft YaHei, SimHei"/>
              </a:defRPr>
            </a:pPr>
            <a:r>
              <a:t>任务2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625960" y="5243267"/>
            <a:ext cx="939774" cy="26850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608507" y="5305695"/>
            <a:ext cx="974680" cy="22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62">
                <a:solidFill>
                  <a:srgbClr val="FFFFFF"/>
                </a:solidFill>
                <a:latin typeface="Microsoft YaHei, SimHei"/>
              </a:defRPr>
            </a:pPr>
            <a:r>
              <a:t>......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625960" y="5578901"/>
            <a:ext cx="939774" cy="335633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852177" y="5681605"/>
            <a:ext cx="487340" cy="22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62">
                <a:solidFill>
                  <a:srgbClr val="FFFFFF"/>
                </a:solidFill>
                <a:latin typeface="Microsoft YaHei, SimHei"/>
              </a:defRPr>
            </a:pPr>
            <a:r>
              <a:t>任务N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901368" y="4034985"/>
            <a:ext cx="1342535" cy="1879549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218206" y="4139703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333333"/>
                </a:solidFill>
                <a:latin typeface="Microsoft YaHei, SimHei"/>
              </a:defRPr>
            </a:pPr>
            <a:r>
              <a:t>任务执行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035622" y="4437746"/>
            <a:ext cx="1074028" cy="29535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129599" y="4525011"/>
            <a:ext cx="886073" cy="201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7">
                <a:solidFill>
                  <a:srgbClr val="FFFFFF"/>
                </a:solidFill>
                <a:latin typeface="Microsoft YaHei, SimHei"/>
              </a:defRPr>
            </a:pPr>
            <a:r>
              <a:t>接口参数处理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035622" y="4800230"/>
            <a:ext cx="1074028" cy="29535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129599" y="4887495"/>
            <a:ext cx="886073" cy="201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7">
                <a:solidFill>
                  <a:srgbClr val="FFFFFF"/>
                </a:solidFill>
                <a:latin typeface="Microsoft YaHei, SimHei"/>
              </a:defRPr>
            </a:pPr>
            <a:r>
              <a:t>评测接口调用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035622" y="5162715"/>
            <a:ext cx="1074028" cy="29535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129599" y="5249980"/>
            <a:ext cx="886073" cy="201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7">
                <a:solidFill>
                  <a:srgbClr val="FFFFFF"/>
                </a:solidFill>
                <a:latin typeface="Microsoft YaHei, SimHei"/>
              </a:defRPr>
            </a:pPr>
            <a:r>
              <a:t>评测结果评判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035622" y="5525199"/>
            <a:ext cx="1074028" cy="295357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129599" y="5612464"/>
            <a:ext cx="886073" cy="201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7">
                <a:solidFill>
                  <a:srgbClr val="FFFFFF"/>
                </a:solidFill>
                <a:latin typeface="Microsoft YaHei, SimHei"/>
              </a:defRPr>
            </a:pPr>
            <a:r>
              <a:t>评测结果输出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780917" y="3497971"/>
            <a:ext cx="2148056" cy="2685070"/>
          </a:xfrm>
          <a:prstGeom prst="roundRect">
            <a:avLst/>
          </a:prstGeom>
          <a:solidFill>
            <a:srgbClr val="D6E8F5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441445" y="3606717"/>
            <a:ext cx="827001" cy="2819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79" b="1">
                <a:solidFill>
                  <a:srgbClr val="1A5FB4"/>
                </a:solidFill>
                <a:latin typeface="Microsoft YaHei, SimHei"/>
              </a:defRPr>
            </a:pPr>
            <a:r>
              <a:t>评测结果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982298" y="4034985"/>
            <a:ext cx="1745295" cy="375909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500516" y="4153129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评测日志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982298" y="4504873"/>
            <a:ext cx="1745295" cy="375909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500516" y="4623016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评测报告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982298" y="4974760"/>
            <a:ext cx="1745295" cy="375909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500516" y="5092903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榜单更新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8982298" y="5444647"/>
            <a:ext cx="1745295" cy="375909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323302" y="5562790"/>
            <a:ext cx="1063287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......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3410777" y="4840507"/>
            <a:ext cx="402760" cy="0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3410777" y="4840507"/>
            <a:ext cx="402760" cy="0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290326" y="4974760"/>
            <a:ext cx="201380" cy="0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699988" y="4974760"/>
            <a:ext cx="93977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793965" y="4598850"/>
            <a:ext cx="0" cy="37591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6793965" y="4598850"/>
            <a:ext cx="107403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6699988" y="5176140"/>
            <a:ext cx="93977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6793965" y="5176140"/>
            <a:ext cx="0" cy="37591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6793965" y="5552050"/>
            <a:ext cx="107403" cy="0"/>
          </a:xfrm>
          <a:prstGeom prst="line">
            <a:avLst/>
          </a:prstGeom>
          <a:ln w="25400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243903" y="4840507"/>
            <a:ext cx="537014" cy="0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>
            <a:off x="8243903" y="4840507"/>
            <a:ext cx="537014" cy="0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5682346" y="6358914"/>
            <a:ext cx="827001" cy="2819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79">
                <a:solidFill>
                  <a:srgbClr val="333333"/>
                </a:solidFill>
                <a:latin typeface="Microsoft YaHei, SimHei"/>
              </a:defRPr>
            </a:pPr>
            <a:r>
              <a:t>评测对象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413462" y="6650244"/>
            <a:ext cx="531643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333333"/>
                </a:solidFill>
                <a:latin typeface="Microsoft YaHei, SimHei"/>
              </a:defRPr>
            </a:pPr>
            <a:r>
              <a:t>大模型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531228" y="6921436"/>
            <a:ext cx="1074028" cy="402760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359383" y="7039579"/>
            <a:ext cx="1417717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DeepSeek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2739509" y="6921436"/>
            <a:ext cx="805521" cy="402760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787841" y="7039579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Qwen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679284" y="6921436"/>
            <a:ext cx="805521" cy="402760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727614" y="7039579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KIMI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619058" y="6921436"/>
            <a:ext cx="805521" cy="402760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490175" y="7039579"/>
            <a:ext cx="1063287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......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246588" y="6650244"/>
            <a:ext cx="531643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333333"/>
                </a:solidFill>
                <a:latin typeface="Microsoft YaHei, SimHei"/>
              </a:defRPr>
            </a:pPr>
            <a:r>
              <a:t>智能体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767115" y="6921436"/>
            <a:ext cx="1074028" cy="402760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6949699" y="7039579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聊天助手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975396" y="6921436"/>
            <a:ext cx="1074028" cy="402760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157981" y="7039579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文本生成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9183678" y="6921436"/>
            <a:ext cx="1074028" cy="402760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366263" y="7039579"/>
            <a:ext cx="708858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证件识别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0391960" y="6921436"/>
            <a:ext cx="805521" cy="402760"/>
          </a:xfrm>
          <a:prstGeom prst="roundRect">
            <a:avLst/>
          </a:prstGeom>
          <a:solidFill>
            <a:srgbClr val="1A7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263076" y="7039579"/>
            <a:ext cx="1063287" cy="241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68">
                <a:solidFill>
                  <a:srgbClr val="FFFFFF"/>
                </a:solidFill>
                <a:latin typeface="Microsoft YaHei, SimHei"/>
              </a:defRPr>
            </a:pPr>
            <a:r>
              <a:t>......</a:t>
            </a:r>
          </a:p>
        </p:txBody>
      </p:sp>
      <p:cxnSp>
        <p:nvCxnSpPr>
          <p:cNvPr id="185" name="Connector 184"/>
          <p:cNvCxnSpPr/>
          <p:nvPr/>
        </p:nvCxnSpPr>
        <p:spPr>
          <a:xfrm flipV="1">
            <a:off x="4082044" y="6317295"/>
            <a:ext cx="604141" cy="604141"/>
          </a:xfrm>
          <a:prstGeom prst="line">
            <a:avLst/>
          </a:prstGeom>
          <a:ln w="25400">
            <a:solidFill>
              <a:srgbClr val="4A90D9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4686185" y="6124641"/>
            <a:ext cx="487340" cy="22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62">
                <a:solidFill>
                  <a:srgbClr val="4A90D9"/>
                </a:solidFill>
                <a:latin typeface="Microsoft YaHei, SimHei"/>
              </a:defRPr>
            </a:pPr>
            <a:r>
              <a:t>API</a:t>
            </a:r>
          </a:p>
        </p:txBody>
      </p:sp>
      <p:cxnSp>
        <p:nvCxnSpPr>
          <p:cNvPr id="187" name="Connector 186"/>
          <p:cNvCxnSpPr/>
          <p:nvPr/>
        </p:nvCxnSpPr>
        <p:spPr>
          <a:xfrm flipH="1" flipV="1">
            <a:off x="7572636" y="6317295"/>
            <a:ext cx="537014" cy="604141"/>
          </a:xfrm>
          <a:prstGeom prst="line">
            <a:avLst/>
          </a:prstGeom>
          <a:ln w="25400">
            <a:solidFill>
              <a:srgbClr val="4A90D9"/>
            </a:solidFill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8109650" y="6124641"/>
            <a:ext cx="649787" cy="221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62">
                <a:solidFill>
                  <a:srgbClr val="4A90D9"/>
                </a:solidFill>
                <a:latin typeface="Microsoft YaHei, SimHei"/>
              </a:defRPr>
            </a:pPr>
            <a:r>
              <a:t>能力对接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