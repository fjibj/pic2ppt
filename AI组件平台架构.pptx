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438247" y="457200"/>
            <a:ext cx="7315200" cy="8229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718407" y="640080"/>
            <a:ext cx="4754880" cy="731520"/>
          </a:xfrm>
          <a:prstGeom prst="round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00066" y="743407"/>
            <a:ext cx="1991563" cy="3017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83" b="1">
                <a:solidFill>
                  <a:srgbClr val="FFFFFF"/>
                </a:solidFill>
                <a:latin typeface="Microsoft YaHei"/>
              </a:defRPr>
            </a:pPr>
            <a:r>
              <a:t>AI组件化管理平台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56912" y="1048816"/>
            <a:ext cx="307787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96">
                <a:solidFill>
                  <a:srgbClr val="FFFFFF"/>
                </a:solidFill>
                <a:latin typeface="Microsoft YaHei"/>
              </a:defRPr>
            </a:pPr>
            <a:r>
              <a:t>-统一门户·自动化运维·企业级组件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95847" y="1371600"/>
            <a:ext cx="0" cy="182880"/>
          </a:xfrm>
          <a:prstGeom prst="line">
            <a:avLst/>
          </a:prstGeom>
          <a:ln w="19050">
            <a:solidFill>
              <a:srgbClr val="333333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4267047" y="1371600"/>
            <a:ext cx="1828800" cy="182880"/>
          </a:xfrm>
          <a:prstGeom prst="line">
            <a:avLst/>
          </a:prstGeom>
          <a:ln w="19050">
            <a:solidFill>
              <a:srgbClr val="333333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95847" y="1371600"/>
            <a:ext cx="1828800" cy="182880"/>
          </a:xfrm>
          <a:prstGeom prst="line">
            <a:avLst/>
          </a:prstGeom>
          <a:ln w="19050">
            <a:solidFill>
              <a:srgbClr val="333333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444087" y="1645920"/>
            <a:ext cx="1645919" cy="10058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45178" y="1795881"/>
            <a:ext cx="643737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2" b="1">
                <a:solidFill>
                  <a:srgbClr val="333333"/>
                </a:solidFill>
                <a:latin typeface="Microsoft YaHei"/>
              </a:defRPr>
            </a:pPr>
            <a:r>
              <a:t>业务用户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05528" y="2047798"/>
            <a:ext cx="523036" cy="1783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36">
                <a:solidFill>
                  <a:srgbClr val="333333"/>
                </a:solidFill>
                <a:latin typeface="Microsoft YaHei"/>
              </a:defRPr>
            </a:pPr>
            <a:r>
              <a:t>组件发现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5528" y="2230678"/>
            <a:ext cx="523036" cy="1783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36">
                <a:solidFill>
                  <a:srgbClr val="333333"/>
                </a:solidFill>
                <a:latin typeface="Microsoft YaHei"/>
              </a:defRPr>
            </a:pPr>
            <a:r>
              <a:t>在线订阅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05528" y="2413558"/>
            <a:ext cx="523036" cy="1783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36">
                <a:solidFill>
                  <a:srgbClr val="333333"/>
                </a:solidFill>
                <a:latin typeface="Microsoft YaHei"/>
              </a:defRPr>
            </a:pPr>
            <a:r>
              <a:t>统一管理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72887" y="1645920"/>
            <a:ext cx="1645919" cy="1005839"/>
          </a:xfrm>
          <a:prstGeom prst="roundRect">
            <a:avLst/>
          </a:prstGeom>
          <a:solidFill>
            <a:srgbClr val="B8D4F0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43219" y="2100376"/>
            <a:ext cx="905256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96" b="1">
                <a:solidFill>
                  <a:srgbClr val="1A3A6C"/>
                </a:solidFill>
                <a:latin typeface="Microsoft YaHei"/>
              </a:defRPr>
            </a:pPr>
            <a:r>
              <a:t>核心平台层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01687" y="1645920"/>
            <a:ext cx="1645919" cy="10058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2777" y="1795881"/>
            <a:ext cx="643737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2" b="1">
                <a:solidFill>
                  <a:srgbClr val="333333"/>
                </a:solidFill>
                <a:latin typeface="Microsoft YaHei"/>
              </a:defRPr>
            </a:pPr>
            <a:r>
              <a:t>组件资产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32369" y="2047798"/>
            <a:ext cx="784555" cy="1783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36">
                <a:solidFill>
                  <a:srgbClr val="333333"/>
                </a:solidFill>
                <a:latin typeface="Microsoft YaHei"/>
              </a:defRPr>
            </a:pPr>
            <a:r>
              <a:t>Milvus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97749" y="2230678"/>
            <a:ext cx="653796" cy="1783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36">
                <a:solidFill>
                  <a:srgbClr val="333333"/>
                </a:solidFill>
                <a:latin typeface="Microsoft YaHei"/>
              </a:defRPr>
            </a:pPr>
            <a:r>
              <a:t>Neo4j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6990" y="2413558"/>
            <a:ext cx="915314" cy="1783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36">
                <a:solidFill>
                  <a:srgbClr val="333333"/>
                </a:solidFill>
                <a:latin typeface="Microsoft YaHei"/>
              </a:defRPr>
            </a:pPr>
            <a:r>
              <a:t>Daytona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44087" y="2834640"/>
            <a:ext cx="5303520" cy="384048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1A3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91175" y="2999232"/>
            <a:ext cx="160934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39" b="1">
                <a:solidFill>
                  <a:srgbClr val="1A3A6C"/>
                </a:solidFill>
                <a:latin typeface="Microsoft YaHei"/>
              </a:defRPr>
            </a:pPr>
            <a:r>
              <a:t>统一平台分层架构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18407" y="3337560"/>
            <a:ext cx="47548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18657" y="3495294"/>
            <a:ext cx="754380" cy="2057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80" b="1">
                <a:solidFill>
                  <a:srgbClr val="333333"/>
                </a:solidFill>
                <a:latin typeface="Microsoft YaHei"/>
              </a:defRPr>
            </a:pPr>
            <a:r>
              <a:t>用户触达层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6386" y="3747211"/>
            <a:ext cx="3258921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4">
                <a:solidFill>
                  <a:srgbClr val="666666"/>
                </a:solidFill>
                <a:latin typeface="Microsoft YaHei"/>
              </a:defRPr>
            </a:pPr>
            <a:r>
              <a:t>组件市场门户(分类展示、详情介绍、搜索订阅、监控管理)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18407" y="4114800"/>
            <a:ext cx="47548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8657" y="4226814"/>
            <a:ext cx="754380" cy="2057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80" b="1">
                <a:solidFill>
                  <a:srgbClr val="333333"/>
                </a:solidFill>
                <a:latin typeface="Microsoft YaHei"/>
              </a:defRPr>
            </a:pPr>
            <a:r>
              <a:t>平台核心层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01287" y="4480559"/>
            <a:ext cx="1371600" cy="5943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25569" y="4608118"/>
            <a:ext cx="523036" cy="1783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36">
                <a:solidFill>
                  <a:srgbClr val="333333"/>
                </a:solidFill>
                <a:latin typeface="Microsoft YaHei"/>
              </a:defRPr>
            </a:pPr>
            <a:r>
              <a:t>配置模板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85335" y="4798771"/>
            <a:ext cx="60350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4">
                <a:solidFill>
                  <a:srgbClr val="666666"/>
                </a:solidFill>
                <a:latin typeface="Microsoft YaHei"/>
              </a:defRPr>
            </a:pPr>
            <a:r>
              <a:t>可视化编辑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85335" y="4935931"/>
            <a:ext cx="60350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4">
                <a:solidFill>
                  <a:srgbClr val="666666"/>
                </a:solidFill>
                <a:latin typeface="Microsoft YaHei"/>
              </a:defRPr>
            </a:pPr>
            <a:r>
              <a:t>版本管理)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10047" y="4480559"/>
            <a:ext cx="1371600" cy="5943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72810" y="4608118"/>
            <a:ext cx="1046073" cy="1783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36">
                <a:solidFill>
                  <a:srgbClr val="333333"/>
                </a:solidFill>
                <a:latin typeface="Microsoft YaHei"/>
              </a:defRPr>
            </a:pPr>
            <a:r>
              <a:t>自动化引擎(部署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4446" y="4798771"/>
            <a:ext cx="482803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4">
                <a:solidFill>
                  <a:srgbClr val="666666"/>
                </a:solidFill>
                <a:latin typeface="Microsoft YaHei"/>
              </a:defRPr>
            </a:pPr>
            <a:r>
              <a:t>资源调度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4446" y="4935931"/>
            <a:ext cx="482803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4">
                <a:solidFill>
                  <a:srgbClr val="666666"/>
                </a:solidFill>
                <a:latin typeface="Microsoft YaHei"/>
              </a:defRPr>
            </a:pPr>
            <a:r>
              <a:t>状态同步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18807" y="4480559"/>
            <a:ext cx="1371600" cy="5943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12330" y="4608118"/>
            <a:ext cx="784555" cy="1783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36">
                <a:solidFill>
                  <a:srgbClr val="333333"/>
                </a:solidFill>
                <a:latin typeface="Microsoft YaHei"/>
              </a:defRPr>
            </a:pPr>
            <a:r>
              <a:t>PaaS能力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82154" y="4798771"/>
            <a:ext cx="844905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4">
                <a:solidFill>
                  <a:srgbClr val="666666"/>
                </a:solidFill>
                <a:latin typeface="Microsoft YaHei"/>
              </a:defRPr>
            </a:pPr>
            <a:r>
              <a:t>容器适配、实例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21804" y="4935931"/>
            <a:ext cx="96560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4">
                <a:solidFill>
                  <a:srgbClr val="666666"/>
                </a:solidFill>
                <a:latin typeface="Microsoft YaHei"/>
              </a:defRPr>
            </a:pPr>
            <a:r>
              <a:t>管理、可观测性)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718407" y="5349240"/>
            <a:ext cx="47548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43219" y="5461253"/>
            <a:ext cx="905255" cy="2057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80" b="1">
                <a:solidFill>
                  <a:srgbClr val="333333"/>
                </a:solidFill>
                <a:latin typeface="Microsoft YaHei"/>
              </a:defRPr>
            </a:pPr>
            <a:r>
              <a:t>企业级组件层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901287" y="5714999"/>
            <a:ext cx="1371600" cy="5943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83583" y="5850331"/>
            <a:ext cx="120700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4">
                <a:solidFill>
                  <a:srgbClr val="333333"/>
                </a:solidFill>
                <a:latin typeface="Microsoft YaHei"/>
              </a:defRPr>
            </a:pPr>
            <a:r>
              <a:t>Milvus(元数据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64633" y="6033211"/>
            <a:ext cx="844905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4">
                <a:solidFill>
                  <a:srgbClr val="666666"/>
                </a:solidFill>
                <a:latin typeface="Microsoft YaHei"/>
              </a:defRPr>
            </a:pPr>
            <a:r>
              <a:t>血缘、生命周期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85335" y="6170371"/>
            <a:ext cx="60350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4">
                <a:solidFill>
                  <a:srgbClr val="666666"/>
                </a:solidFill>
                <a:latin typeface="Microsoft YaHei"/>
              </a:defRPr>
            </a:pPr>
            <a:r>
              <a:t>专项监控)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10047" y="5714999"/>
            <a:ext cx="1371600" cy="5943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52694" y="5850331"/>
            <a:ext cx="1086307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4">
                <a:solidFill>
                  <a:srgbClr val="333333"/>
                </a:solidFill>
                <a:latin typeface="Microsoft YaHei"/>
              </a:defRPr>
            </a:pPr>
            <a:r>
              <a:t>Neo4j(图模型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73394" y="6033211"/>
            <a:ext cx="844905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4">
                <a:solidFill>
                  <a:srgbClr val="666666"/>
                </a:solidFill>
                <a:latin typeface="Microsoft YaHei"/>
              </a:defRPr>
            </a:pPr>
            <a:r>
              <a:t>管理、数据血缘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94095" y="6170371"/>
            <a:ext cx="60350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4">
                <a:solidFill>
                  <a:srgbClr val="666666"/>
                </a:solidFill>
                <a:latin typeface="Microsoft YaHei"/>
              </a:defRPr>
            </a:pPr>
            <a:r>
              <a:t>性能分析)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918807" y="5714999"/>
            <a:ext cx="1371600" cy="5943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82154" y="5850331"/>
            <a:ext cx="844905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4">
                <a:solidFill>
                  <a:srgbClr val="333333"/>
                </a:solidFill>
                <a:latin typeface="Microsoft YaHei"/>
              </a:defRPr>
            </a:pPr>
            <a:r>
              <a:t>Daytona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63206" y="6033211"/>
            <a:ext cx="482803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4">
                <a:solidFill>
                  <a:srgbClr val="666666"/>
                </a:solidFill>
                <a:latin typeface="Microsoft YaHei"/>
              </a:defRPr>
            </a:pPr>
            <a:r>
              <a:t>安全治理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02855" y="6170371"/>
            <a:ext cx="60350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4">
                <a:solidFill>
                  <a:srgbClr val="666666"/>
                </a:solidFill>
                <a:latin typeface="Microsoft YaHei"/>
              </a:defRPr>
            </a:pPr>
            <a:r>
              <a:t>GPU监控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4587087" y="6675120"/>
            <a:ext cx="0" cy="182880"/>
          </a:xfrm>
          <a:prstGeom prst="line">
            <a:avLst/>
          </a:prstGeom>
          <a:ln w="19050">
            <a:solidFill>
              <a:srgbClr val="333333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604607" y="6675120"/>
            <a:ext cx="0" cy="182880"/>
          </a:xfrm>
          <a:prstGeom prst="line">
            <a:avLst/>
          </a:prstGeom>
          <a:ln w="19050">
            <a:solidFill>
              <a:srgbClr val="333333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Freeform 55"/>
          <p:cNvSpPr/>
          <p:nvPr/>
        </p:nvSpPr>
        <p:spPr>
          <a:xfrm>
            <a:off x="0" y="0"/>
            <a:ext cx="7873182882000" cy="7525139382000"/>
          </a:xfrm>
          <a:custGeom>
            <a:avLst/>
            <a:gdLst/>
            <a:ahLst/>
            <a:cxnLst/>
            <a:rect l="l" t="t" r="r" b="b"/>
            <a:pathLst>
              <a:path w="3444087" h="6858000">
                <a:moveTo>
                  <a:pt x="3444087" y="685800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A3A6C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35043" y="7160666"/>
            <a:ext cx="70408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8" b="1">
                <a:solidFill>
                  <a:srgbClr val="FFFFFF"/>
                </a:solidFill>
                <a:latin typeface="Microsoft YaHei"/>
              </a:defRPr>
            </a:pPr>
            <a:r>
              <a:t>标准化发布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43933" y="7404811"/>
            <a:ext cx="1086307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4">
                <a:solidFill>
                  <a:srgbClr val="FFFFFF"/>
                </a:solidFill>
                <a:latin typeface="Microsoft YaHei"/>
              </a:defRPr>
            </a:pPr>
            <a:r>
              <a:t>(Docker镜像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45686" y="7587691"/>
            <a:ext cx="482803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4">
                <a:solidFill>
                  <a:srgbClr val="FFFFFF"/>
                </a:solidFill>
                <a:latin typeface="Microsoft YaHei"/>
              </a:defRPr>
            </a:pPr>
            <a:r>
              <a:t>资产封装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285335" y="7770570"/>
            <a:ext cx="60350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4">
                <a:solidFill>
                  <a:srgbClr val="FFFFFF"/>
                </a:solidFill>
                <a:latin typeface="Microsoft YaHei"/>
              </a:defRPr>
            </a:pPr>
            <a:r>
              <a:t>市场上架)</a:t>
            </a:r>
          </a:p>
        </p:txBody>
      </p:sp>
      <p:sp>
        <p:nvSpPr>
          <p:cNvPr id="61" name="Freeform 60"/>
          <p:cNvSpPr/>
          <p:nvPr/>
        </p:nvSpPr>
        <p:spPr>
          <a:xfrm>
            <a:off x="0" y="0"/>
            <a:ext cx="14771233602000" cy="7525139382000"/>
          </a:xfrm>
          <a:custGeom>
            <a:avLst/>
            <a:gdLst/>
            <a:ahLst/>
            <a:cxnLst/>
            <a:rect l="l" t="t" r="r" b="b"/>
            <a:pathLst>
              <a:path w="6461607" h="6858000">
                <a:moveTo>
                  <a:pt x="6461607" y="685800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A3A6C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22972" y="7160666"/>
            <a:ext cx="563270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8" b="1">
                <a:solidFill>
                  <a:srgbClr val="FFFFFF"/>
                </a:solidFill>
                <a:latin typeface="Microsoft YaHei"/>
              </a:defRPr>
            </a:pPr>
            <a:r>
              <a:t>技术底座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40753" y="7404811"/>
            <a:ext cx="132770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4">
                <a:solidFill>
                  <a:srgbClr val="FFFFFF"/>
                </a:solidFill>
                <a:latin typeface="Microsoft YaHei"/>
              </a:defRPr>
            </a:pPr>
            <a:r>
              <a:t>(Kubernetes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63206" y="7587691"/>
            <a:ext cx="482803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4">
                <a:solidFill>
                  <a:srgbClr val="FFFFFF"/>
                </a:solidFill>
                <a:latin typeface="Microsoft YaHei"/>
              </a:defRPr>
            </a:pPr>
            <a:r>
              <a:t>容器编排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02855" y="7770570"/>
            <a:ext cx="60350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64">
                <a:solidFill>
                  <a:srgbClr val="FFFFFF"/>
                </a:solidFill>
                <a:latin typeface="Microsoft YaHei"/>
              </a:defRPr>
            </a:pPr>
            <a:r>
              <a:t>监控告警)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